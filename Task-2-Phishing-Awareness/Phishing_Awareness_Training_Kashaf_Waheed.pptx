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these answers after group discussion:
Q1: Should you trust every email that claims to be from your bank?
A1: No. Always verify the sender and the website independently before trusting any request for information or action.
Q2: What should you check before clicking a link in an email?
A2: Check the real URL (hover to preview it) and confirm the sender's actual email address, not just the display name.
Q3: What does HTTPS indicate about a website, and what doesn't it guarantee?
A3: HTTPS means the connection is encrypted, but it does not guarantee the website itself is legitimate or trustworthy — attackers can obtain valid HTTPS certificates for fake sites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08162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8162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005840" cy="10058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114071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Recognizing, Resisting, and Reporting Social Engineering Attacks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434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Kashaf Waheed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for CodeAlpha Cyber Security Internship – July 2026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54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cyberattack where criminals impersonate a trusted person or organization to trick victims into revealing sensitive information or installing malware.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1546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 passwords, credit card numbers, banking details, or company data — or gain unauthorized access to systems and accounts.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61772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754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Attackers Use 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51206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exploits human trust rather than technical flaws, making it cheap, scalable, and often more effective than hacking software directly.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06640" y="1417320"/>
            <a:ext cx="4114800" cy="4709160"/>
          </a:xfrm>
          <a:prstGeom prst="roundRect">
            <a:avLst>
              <a:gd name="adj" fmla="val 2667"/>
            </a:avLst>
          </a:prstGeom>
          <a:solidFill>
            <a:srgbClr val="0B1F3A"/>
          </a:solidFill>
          <a:ln/>
        </p:spPr>
      </p:sp>
      <p:sp>
        <p:nvSpPr>
          <p:cNvPr id="13" name="Shape 11"/>
          <p:cNvSpPr/>
          <p:nvPr/>
        </p:nvSpPr>
        <p:spPr>
          <a:xfrm>
            <a:off x="9006840" y="2103120"/>
            <a:ext cx="914400" cy="9144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33172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680960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Bait → Trust → Action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772400" y="37947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disguise malicious requests as routine, urgent, or official communication to lower your guard.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55280" y="5394960"/>
            <a:ext cx="3017520" cy="0"/>
          </a:xfrm>
          <a:prstGeom prst="line">
            <a:avLst/>
          </a:prstGeom>
          <a:noFill/>
          <a:ln w="12700">
            <a:solidFill>
              <a:srgbClr val="2A4A7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0" y="5532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90% of successful cyberattacks start with a phishing email.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adapt the channel to fit the target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2103120"/>
            <a:ext cx="822960" cy="822960"/>
          </a:xfrm>
          <a:prstGeom prst="ellipse">
            <a:avLst/>
          </a:prstGeom>
          <a:solidFill>
            <a:srgbClr val="CDEF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3088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54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emails that impersonate banks, companies, or coworkers to steal credentials or spread malware.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02152" y="173736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93692" y="2103120"/>
            <a:ext cx="822960" cy="822960"/>
          </a:xfrm>
          <a:prstGeom prst="ellipse">
            <a:avLst/>
          </a:prstGeom>
          <a:solidFill>
            <a:srgbClr val="CDEF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3088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3154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Phishing (Smishing)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730752" y="38862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text messages with malicious links, often disguised as delivery alerts or account warnings.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64224" y="173736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55764" y="2103120"/>
            <a:ext cx="822960" cy="822960"/>
          </a:xfrm>
          <a:prstGeom prst="ellipse">
            <a:avLst/>
          </a:prstGeom>
          <a:solidFill>
            <a:srgbClr val="CDEFF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4" y="23088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3154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Phishing (Vishing)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92824" y="38862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 where attackers pose as support staff or officials to extract information verbally.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26296" y="173736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17836" y="2103120"/>
            <a:ext cx="822960" cy="822960"/>
          </a:xfrm>
          <a:prstGeom prst="ellipse">
            <a:avLst/>
          </a:prstGeom>
          <a:solidFill>
            <a:srgbClr val="CDEF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576" y="230886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31546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454896" y="388620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attacks that use personal details to convincingly impersonate someone the victim trusts.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Phishing Attack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five-step chain from attacker to stolen credentials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810512" cy="2834640"/>
          </a:xfrm>
          <a:prstGeom prst="roundRect">
            <a:avLst>
              <a:gd name="adj" fmla="val 5051"/>
            </a:avLst>
          </a:prstGeom>
          <a:solidFill>
            <a:srgbClr val="081627"/>
          </a:solidFill>
          <a:ln/>
        </p:spPr>
      </p:sp>
      <p:sp>
        <p:nvSpPr>
          <p:cNvPr id="5" name="Shape 3"/>
          <p:cNvSpPr/>
          <p:nvPr/>
        </p:nvSpPr>
        <p:spPr>
          <a:xfrm>
            <a:off x="1202436" y="2240280"/>
            <a:ext cx="685800" cy="6858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3886" y="24117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93392" y="2075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063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5661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Crafts a deceptive message impersonating a trusted source.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478024" y="3182112"/>
            <a:ext cx="329184" cy="402336"/>
          </a:xfrm>
          <a:prstGeom prst="chevron">
            <a:avLst/>
          </a:prstGeom>
          <a:solidFill>
            <a:srgbClr val="00B4D8"/>
          </a:solidFill>
          <a:ln/>
        </p:spPr>
      </p:sp>
      <p:sp>
        <p:nvSpPr>
          <p:cNvPr id="11" name="Shape 8"/>
          <p:cNvSpPr/>
          <p:nvPr/>
        </p:nvSpPr>
        <p:spPr>
          <a:xfrm>
            <a:off x="2834640" y="1965960"/>
            <a:ext cx="1810512" cy="2834640"/>
          </a:xfrm>
          <a:prstGeom prst="roundRect">
            <a:avLst>
              <a:gd name="adj" fmla="val 5051"/>
            </a:avLst>
          </a:prstGeom>
          <a:solidFill>
            <a:srgbClr val="081627"/>
          </a:solidFill>
          <a:ln/>
        </p:spPr>
      </p:sp>
      <p:sp>
        <p:nvSpPr>
          <p:cNvPr id="12" name="Shape 9"/>
          <p:cNvSpPr/>
          <p:nvPr/>
        </p:nvSpPr>
        <p:spPr>
          <a:xfrm>
            <a:off x="3396996" y="2240280"/>
            <a:ext cx="685800" cy="6858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446" y="241173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87952" y="2075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926080" y="3063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971800" y="35661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convincing email with a spoofed sender identity.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72584" y="3182112"/>
            <a:ext cx="329184" cy="402336"/>
          </a:xfrm>
          <a:prstGeom prst="chevron">
            <a:avLst/>
          </a:prstGeom>
          <a:solidFill>
            <a:srgbClr val="00B4D8"/>
          </a:solidFill>
          <a:ln/>
        </p:spPr>
      </p:sp>
      <p:sp>
        <p:nvSpPr>
          <p:cNvPr id="18" name="Shape 14"/>
          <p:cNvSpPr/>
          <p:nvPr/>
        </p:nvSpPr>
        <p:spPr>
          <a:xfrm>
            <a:off x="5029200" y="1965960"/>
            <a:ext cx="1810512" cy="2834640"/>
          </a:xfrm>
          <a:prstGeom prst="roundRect">
            <a:avLst>
              <a:gd name="adj" fmla="val 5051"/>
            </a:avLst>
          </a:prstGeom>
          <a:solidFill>
            <a:srgbClr val="081627"/>
          </a:solidFill>
          <a:ln/>
        </p:spPr>
      </p:sp>
      <p:sp>
        <p:nvSpPr>
          <p:cNvPr id="19" name="Shape 15"/>
          <p:cNvSpPr/>
          <p:nvPr/>
        </p:nvSpPr>
        <p:spPr>
          <a:xfrm>
            <a:off x="5591556" y="2240280"/>
            <a:ext cx="685800" cy="68580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006" y="2411730"/>
            <a:ext cx="342900" cy="342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82512" y="2075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120640" y="3063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Link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166360" y="35661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email urges the target to click a malicious link.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867144" y="3182112"/>
            <a:ext cx="329184" cy="402336"/>
          </a:xfrm>
          <a:prstGeom prst="chevron">
            <a:avLst/>
          </a:prstGeom>
          <a:solidFill>
            <a:srgbClr val="00B4D8"/>
          </a:solidFill>
          <a:ln/>
        </p:spPr>
      </p:sp>
      <p:sp>
        <p:nvSpPr>
          <p:cNvPr id="25" name="Shape 20"/>
          <p:cNvSpPr/>
          <p:nvPr/>
        </p:nvSpPr>
        <p:spPr>
          <a:xfrm>
            <a:off x="7223760" y="1965960"/>
            <a:ext cx="1810512" cy="2834640"/>
          </a:xfrm>
          <a:prstGeom prst="roundRect">
            <a:avLst>
              <a:gd name="adj" fmla="val 5051"/>
            </a:avLst>
          </a:prstGeom>
          <a:solidFill>
            <a:srgbClr val="081627"/>
          </a:solidFill>
          <a:ln/>
        </p:spPr>
      </p:sp>
      <p:sp>
        <p:nvSpPr>
          <p:cNvPr id="26" name="Shape 21"/>
          <p:cNvSpPr/>
          <p:nvPr/>
        </p:nvSpPr>
        <p:spPr>
          <a:xfrm>
            <a:off x="7786116" y="2240280"/>
            <a:ext cx="685800" cy="685800"/>
          </a:xfrm>
          <a:prstGeom prst="ellipse">
            <a:avLst/>
          </a:prstGeom>
          <a:solidFill>
            <a:srgbClr val="FCE4E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566" y="2411730"/>
            <a:ext cx="342900" cy="3429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577072" y="2075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315200" y="3063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360920" y="35661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opens a cloned site mimicking a real login page.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9061704" y="3182112"/>
            <a:ext cx="329184" cy="402336"/>
          </a:xfrm>
          <a:prstGeom prst="chevron">
            <a:avLst/>
          </a:prstGeom>
          <a:solidFill>
            <a:srgbClr val="00B4D8"/>
          </a:solidFill>
          <a:ln/>
        </p:spPr>
      </p:sp>
      <p:sp>
        <p:nvSpPr>
          <p:cNvPr id="32" name="Shape 26"/>
          <p:cNvSpPr/>
          <p:nvPr/>
        </p:nvSpPr>
        <p:spPr>
          <a:xfrm>
            <a:off x="9418320" y="1965960"/>
            <a:ext cx="1810512" cy="2834640"/>
          </a:xfrm>
          <a:prstGeom prst="roundRect">
            <a:avLst>
              <a:gd name="adj" fmla="val 5051"/>
            </a:avLst>
          </a:prstGeom>
          <a:solidFill>
            <a:srgbClr val="081627"/>
          </a:solidFill>
          <a:ln/>
        </p:spPr>
      </p:sp>
      <p:sp>
        <p:nvSpPr>
          <p:cNvPr id="33" name="Shape 27"/>
          <p:cNvSpPr/>
          <p:nvPr/>
        </p:nvSpPr>
        <p:spPr>
          <a:xfrm>
            <a:off x="9980676" y="2240280"/>
            <a:ext cx="685800" cy="685800"/>
          </a:xfrm>
          <a:prstGeom prst="ellipse">
            <a:avLst/>
          </a:prstGeom>
          <a:solidFill>
            <a:srgbClr val="FCE4E6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2126" y="2411730"/>
            <a:ext cx="342900" cy="3429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771632" y="2075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9509760" y="306324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Stolen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555480" y="3566160"/>
            <a:ext cx="15361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credentials are captured and sent to the attacker.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640080" y="4983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pPr algn="l"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Email</a:t>
            </a:r>
            <a:pPr algn="l"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Link</a:t>
            </a:r>
            <a:pPr algn="l"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</a:t>
            </a:r>
            <a:pPr algn="l"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l" indent="0" marL="0">
              <a:buNone/>
            </a:pPr>
            <a:r>
              <a:rPr lang="en-US" sz="13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Stolen</a:t>
            </a:r>
            <a:endParaRPr lang="en-US" sz="1350" dirty="0"/>
          </a:p>
        </p:txBody>
      </p:sp>
      <p:sp>
        <p:nvSpPr>
          <p:cNvPr id="39" name="Text 32"/>
          <p:cNvSpPr/>
          <p:nvPr/>
        </p:nvSpPr>
        <p:spPr>
          <a:xfrm>
            <a:off x="64008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this chain shows there are multiple points to intervene: before the click, at the site, and at credential entry.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Recreated, annotated mock-ups — not real brands — showing where the red flags hide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5212080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63624"/>
            <a:ext cx="5212080" cy="19202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50876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508760"/>
            <a:ext cx="109728" cy="109728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9" name="Shape 7"/>
          <p:cNvSpPr/>
          <p:nvPr/>
        </p:nvSpPr>
        <p:spPr>
          <a:xfrm>
            <a:off x="1207008" y="1508760"/>
            <a:ext cx="109728" cy="109728"/>
          </a:xfrm>
          <a:prstGeom prst="ellipse">
            <a:avLst/>
          </a:prstGeom>
          <a:solidFill>
            <a:srgbClr val="43AA8B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3716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— Mail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1938528"/>
            <a:ext cx="457200" cy="457200"/>
          </a:xfrm>
          <a:prstGeom prst="ellipse">
            <a:avLst/>
          </a:prstGeom>
          <a:solidFill>
            <a:srgbClr val="CDEFF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19202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SecurePay Team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alerts@securepay-verify-team.com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AM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417320" y="2084832"/>
            <a:ext cx="3291840" cy="347472"/>
          </a:xfrm>
          <a:prstGeom prst="roundRect">
            <a:avLst>
              <a:gd name="adj" fmla="val 13158"/>
            </a:avLst>
          </a:prstGeom>
          <a:ln w="19050">
            <a:solidFill>
              <a:srgbClr val="E6394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800600" y="202996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02996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domain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2560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account has been limited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68680" y="2999232"/>
            <a:ext cx="4754880" cy="0"/>
          </a:xfrm>
          <a:prstGeom prst="line">
            <a:avLst/>
          </a:prstGeom>
          <a:noFill/>
          <a:ln w="12700">
            <a:solidFill>
              <a:srgbClr val="E5E9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1272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noticed unusual sign-in activity on your account. For your protection, please verify your identity within 24 hours or your account will be permanently suspended.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3977640"/>
            <a:ext cx="2103120" cy="411480"/>
          </a:xfrm>
          <a:prstGeom prst="roundRect">
            <a:avLst>
              <a:gd name="adj" fmla="val 13333"/>
            </a:avLst>
          </a:prstGeom>
          <a:solidFill>
            <a:srgbClr val="1D7FB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977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My Account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4498848"/>
            <a:ext cx="3520440" cy="292608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49884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http://secure-paypa1-login.ru/verify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4846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status bar reveals the real destination on hover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6868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EXAMPLE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09360" y="137160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1371600"/>
            <a:ext cx="5212080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9360" y="1563624"/>
            <a:ext cx="5212080" cy="19202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3952" y="1508760"/>
            <a:ext cx="109728" cy="10972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Shape 29"/>
          <p:cNvSpPr/>
          <p:nvPr/>
        </p:nvSpPr>
        <p:spPr>
          <a:xfrm>
            <a:off x="6675120" y="1508760"/>
            <a:ext cx="109728" cy="109728"/>
          </a:xfrm>
          <a:prstGeom prst="ellipse">
            <a:avLst/>
          </a:prstGeom>
          <a:solidFill>
            <a:srgbClr val="F9C74F"/>
          </a:solidFill>
          <a:ln/>
        </p:spPr>
      </p:sp>
      <p:sp>
        <p:nvSpPr>
          <p:cNvPr id="32" name="Shape 30"/>
          <p:cNvSpPr/>
          <p:nvPr/>
        </p:nvSpPr>
        <p:spPr>
          <a:xfrm>
            <a:off x="6876288" y="1508760"/>
            <a:ext cx="109728" cy="109728"/>
          </a:xfrm>
          <a:prstGeom prst="ellipse">
            <a:avLst/>
          </a:prstGeom>
          <a:solidFill>
            <a:srgbClr val="43AA8B"/>
          </a:solidFill>
          <a:ln/>
        </p:spPr>
      </p:sp>
      <p:sp>
        <p:nvSpPr>
          <p:cNvPr id="33" name="Shape 31"/>
          <p:cNvSpPr/>
          <p:nvPr/>
        </p:nvSpPr>
        <p:spPr>
          <a:xfrm>
            <a:off x="7223760" y="1453896"/>
            <a:ext cx="4023360" cy="228600"/>
          </a:xfrm>
          <a:prstGeom prst="roundRect">
            <a:avLst>
              <a:gd name="adj" fmla="val 20000"/>
            </a:avLst>
          </a:prstGeom>
          <a:solidFill>
            <a:srgbClr val="0F2A4D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88" y="1481328"/>
            <a:ext cx="164592" cy="164592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552944" y="1453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secure-paypa1-login.ru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223760" y="1426464"/>
            <a:ext cx="4023360" cy="292608"/>
          </a:xfrm>
          <a:prstGeom prst="roundRect">
            <a:avLst>
              <a:gd name="adj" fmla="val 15625"/>
            </a:avLst>
          </a:prstGeom>
          <a:ln w="19050">
            <a:solidFill>
              <a:srgbClr val="E63946"/>
            </a:solidFill>
            <a:prstDash val="dash"/>
          </a:ln>
        </p:spPr>
      </p:sp>
      <p:sp>
        <p:nvSpPr>
          <p:cNvPr id="37" name="Shape 34"/>
          <p:cNvSpPr/>
          <p:nvPr/>
        </p:nvSpPr>
        <p:spPr>
          <a:xfrm>
            <a:off x="10104120" y="18745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38" name="Text 35"/>
          <p:cNvSpPr/>
          <p:nvPr/>
        </p:nvSpPr>
        <p:spPr>
          <a:xfrm>
            <a:off x="10195560" y="1874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 lock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223760" y="2423160"/>
            <a:ext cx="33832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8641080" y="269748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1" name="Text 38"/>
          <p:cNvSpPr/>
          <p:nvPr/>
        </p:nvSpPr>
        <p:spPr>
          <a:xfrm>
            <a:off x="864108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7406640" y="3337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SecurePay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7543800" y="384048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80960" y="3840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543800" y="429768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680960" y="4297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7543800" y="461772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1D7FBF"/>
          </a:solidFill>
          <a:ln/>
        </p:spPr>
      </p:sp>
      <p:sp>
        <p:nvSpPr>
          <p:cNvPr id="48" name="Text 45"/>
          <p:cNvSpPr/>
          <p:nvPr/>
        </p:nvSpPr>
        <p:spPr>
          <a:xfrm>
            <a:off x="7543800" y="4617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6537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 EXAMPLE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tactics travel across channels — </a:t>
            </a:r>
            <a:pPr indent="0" marL="0">
              <a:buNone/>
            </a:pPr>
            <a:r>
              <a:rPr lang="en-US" sz="1150" b="1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</a:t>
            </a:r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(SMS) and </a:t>
            </a:r>
            <a:pPr indent="0" marL="0">
              <a:buNone/>
            </a:pPr>
            <a:r>
              <a:rPr lang="en-US" sz="1150" b="1" i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</a:t>
            </a:r>
            <a:pPr indent="0" marL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(phone calls) use identical urgency and impersonation tricks.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Identify Phishing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warning signs to check before you trust a message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10512"/>
            <a:ext cx="530352" cy="530352"/>
          </a:xfrm>
          <a:prstGeom prst="ellipse">
            <a:avLst/>
          </a:prstGeom>
          <a:solidFill>
            <a:srgbClr val="FCE4E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009" y="1929841"/>
            <a:ext cx="291694" cy="291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4650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Mistakes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63440" y="1746504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organizations proofread carefully — frequent typos or odd grammar are a red flag.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587752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706624"/>
            <a:ext cx="530352" cy="530352"/>
          </a:xfrm>
          <a:prstGeom prst="ellipse">
            <a:avLst/>
          </a:prstGeom>
          <a:solidFill>
            <a:srgbClr val="FCE4E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009" y="2825953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6426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Language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3440" y="2642616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Phrases like “act now” or “account will be closed” are designed to bypass careful thinking.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483864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602736"/>
            <a:ext cx="530352" cy="530352"/>
          </a:xfrm>
          <a:prstGeom prst="ellipse">
            <a:avLst/>
          </a:prstGeom>
          <a:solidFill>
            <a:srgbClr val="FCE4E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009" y="3722065"/>
            <a:ext cx="291694" cy="291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5387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Sender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663440" y="353872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full email address, not just the display name — look for misspelled domains.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379976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498848"/>
            <a:ext cx="530352" cy="530352"/>
          </a:xfrm>
          <a:prstGeom prst="ellipse">
            <a:avLst/>
          </a:prstGeom>
          <a:solidFill>
            <a:srgbClr val="FCE4E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009" y="4618177"/>
            <a:ext cx="291694" cy="2916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Links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663440" y="44348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real destination before clicking anything.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276088"/>
            <a:ext cx="10881360" cy="758952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68680" y="5394960"/>
            <a:ext cx="530352" cy="530352"/>
          </a:xfrm>
          <a:prstGeom prst="ellipse">
            <a:avLst/>
          </a:prstGeom>
          <a:solidFill>
            <a:srgbClr val="FCE4E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009" y="5514289"/>
            <a:ext cx="291694" cy="2916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33095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63440" y="5330952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Unsolicited files, especially .zip or .exe, often carry malware payloads.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succeeds by manipulating emotion, not technology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816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777240" cy="7772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1602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194767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20240" y="237744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account suspension, legal trouble, or financial loss push victims to react before thinking.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81627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1965960"/>
            <a:ext cx="777240" cy="7772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390" y="21602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4767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360920" y="237744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Intriguing subject lines or “you won’t believe this” messages tempt victims to click without caution.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319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81627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206240"/>
            <a:ext cx="777240" cy="7772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40055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418795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20240" y="461772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deadlines and countdowns pressure victims into skipping normal verification steps.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80760" y="3931920"/>
            <a:ext cx="5166360" cy="1965960"/>
          </a:xfrm>
          <a:prstGeom prst="roundRect">
            <a:avLst>
              <a:gd name="adj" fmla="val 4651"/>
            </a:avLst>
          </a:prstGeom>
          <a:solidFill>
            <a:srgbClr val="081627"/>
          </a:solidFill>
          <a:ln/>
        </p:spPr>
      </p:sp>
      <p:sp>
        <p:nvSpPr>
          <p:cNvPr id="20" name="Shape 15"/>
          <p:cNvSpPr/>
          <p:nvPr/>
        </p:nvSpPr>
        <p:spPr>
          <a:xfrm>
            <a:off x="6355080" y="4206240"/>
            <a:ext cx="777240" cy="777240"/>
          </a:xfrm>
          <a:prstGeom prst="ellipse">
            <a:avLst/>
          </a:prstGeom>
          <a:solidFill>
            <a:srgbClr val="13315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9390" y="440055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18795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360920" y="461772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boss, bank, or colleague exploits existing relationships to lower suspicion.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habits that block most phishing attempts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66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94360" cy="594360"/>
          </a:xfrm>
          <a:prstGeom prst="ellipse">
            <a:avLst/>
          </a:prstGeom>
          <a:solidFill>
            <a:srgbClr val="CDEFF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0688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47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Two-Factor Authentication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0020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second verification step so a stolen password alone isn't enough.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80760" y="1737360"/>
            <a:ext cx="5166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920240"/>
            <a:ext cx="594360" cy="594360"/>
          </a:xfrm>
          <a:prstGeom prst="ellipse">
            <a:avLst/>
          </a:prstGeom>
          <a:solidFill>
            <a:srgbClr val="CDEF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230" y="20688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470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Unknown Links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4088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known addresses directly into the browser instead of clicking email links.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2926080"/>
            <a:ext cx="5166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108960"/>
            <a:ext cx="594360" cy="594360"/>
          </a:xfrm>
          <a:prstGeom prst="ellipse">
            <a:avLst/>
          </a:prstGeom>
          <a:solidFill>
            <a:srgbClr val="CDEFF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25755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035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Sender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600200" y="3383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requests through a separate, trusted channel like a phone call.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080760" y="2926080"/>
            <a:ext cx="5166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63640" y="3108960"/>
            <a:ext cx="594360" cy="594360"/>
          </a:xfrm>
          <a:prstGeom prst="ellipse">
            <a:avLst/>
          </a:prstGeom>
          <a:solidFill>
            <a:srgbClr val="CDEF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230" y="325755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3035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040880" y="33832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 auto-fills unique passwords, refusing to fill fake login pages.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11480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4297680"/>
            <a:ext cx="594360" cy="594360"/>
          </a:xfrm>
          <a:prstGeom prst="ellipse">
            <a:avLst/>
          </a:prstGeom>
          <a:solidFill>
            <a:srgbClr val="CDEFF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444627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224528"/>
            <a:ext cx="9464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600200" y="4572000"/>
            <a:ext cx="946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close security holes that phishing payloads try to exploit.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Quiz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what you've learned — discuss as a group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69164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you trust every email that claims to be from your bank?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1947672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274320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288036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737360" y="274320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you check before clicking a link in an email?</a:t>
            </a:r>
            <a:endParaRPr lang="en-US" sz="14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999232"/>
            <a:ext cx="365760" cy="365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" y="379476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931920"/>
            <a:ext cx="594360" cy="59436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2"/>
          <p:cNvSpPr/>
          <p:nvPr/>
        </p:nvSpPr>
        <p:spPr>
          <a:xfrm>
            <a:off x="91440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737360" y="379476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HTTPS indicate about a website — and what doesn't it guarantee?</a:t>
            </a:r>
            <a:endParaRPr lang="en-US" sz="14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4050792"/>
            <a:ext cx="365760" cy="36576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40080" y="493776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08406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50657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914400" y="54406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50" dirty="0">
                <a:solidFill>
                  <a:srgbClr val="E5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always verify the sender and the real website before trusting it.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914400" y="57150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50" dirty="0">
                <a:solidFill>
                  <a:srgbClr val="E5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real URL and sender before clicking.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50" dirty="0">
                <a:solidFill>
                  <a:srgbClr val="E5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means the connection is encrypted, but it does not guarantee the website is legitimate.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81627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371600"/>
            <a:ext cx="3657600" cy="3657600"/>
          </a:xfrm>
          <a:prstGeom prst="ellipse">
            <a:avLst/>
          </a:prstGeom>
          <a:solidFill>
            <a:srgbClr val="081627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CDEF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0287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from phishing is a habit, not a one-time fix.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5643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34290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you click — urgency is a warning sign, not a reason to hurry.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86784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9593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senders and links through a separate, trusted channel.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517136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448970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2FA and a password manager as your safety net.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047488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80160" y="5020056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report it — don't just delete it.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822960" y="5806440"/>
            <a:ext cx="2743200" cy="0"/>
          </a:xfrm>
          <a:prstGeom prst="line">
            <a:avLst/>
          </a:prstGeom>
          <a:noFill/>
          <a:ln w="12700">
            <a:solidFill>
              <a:srgbClr val="2A4A70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· Kashaf Waheed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 Training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Kashaf Waheed</dc:creator>
  <cp:lastModifiedBy>Kashaf Waheed</cp:lastModifiedBy>
  <cp:revision>1</cp:revision>
  <dcterms:created xsi:type="dcterms:W3CDTF">2026-07-02T19:17:32Z</dcterms:created>
  <dcterms:modified xsi:type="dcterms:W3CDTF">2026-07-02T19:17:32Z</dcterms:modified>
</cp:coreProperties>
</file>